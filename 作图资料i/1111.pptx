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78475" cy="99726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wiqmuc6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78475" cy="99726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5750" y="190500"/>
            <a:ext cx="4133850" cy="571500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0" i="0">
                <a:solidFill>
                  <a:srgbClr val="000000"/>
                </a:solidFill>
                <a:latin typeface="微软雅黑"/>
              </a:rPr>
              <a:t>SCIDIAGRAM:F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71950" y="238125"/>
            <a:ext cx="1743075" cy="533400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0" i="0">
                <a:solidFill>
                  <a:srgbClr val="000000"/>
                </a:solidFill>
                <a:latin typeface="微软雅黑"/>
              </a:rPr>
              <a:t>Forest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0" y="209550"/>
            <a:ext cx="2105025" cy="638175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000000"/>
                </a:solidFill>
                <a:latin typeface="微软雅黑"/>
              </a:rPr>
              <a:t>(Bicycle)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0" y="276225"/>
            <a:ext cx="381000" cy="438150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000000"/>
                </a:solidFill>
                <a:latin typeface="微软雅黑"/>
              </a:rPr>
              <a:t>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0575" y="171450"/>
            <a:ext cx="8724900" cy="704850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0" i="0">
                <a:solidFill>
                  <a:srgbClr val="000000"/>
                </a:solidFill>
                <a:latin typeface="微软雅黑"/>
              </a:rPr>
              <a:t>(I)DDQN Global-Planning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1295400"/>
            <a:ext cx="2085975" cy="323850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000000"/>
                </a:solidFill>
                <a:latin typeface="微软雅黑"/>
              </a:rPr>
              <a:t>ENVIRONMENT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62275" y="1266825"/>
            <a:ext cx="1047750" cy="409575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000000"/>
                </a:solidFill>
                <a:latin typeface="微软雅黑"/>
              </a:rPr>
              <a:t>(Forest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81450" y="1295400"/>
            <a:ext cx="1095375" cy="371475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000000"/>
                </a:solidFill>
                <a:latin typeface="微软雅黑"/>
              </a:rPr>
              <a:t>Bicycle)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19975" y="1285875"/>
            <a:ext cx="1085850" cy="333375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000000"/>
                </a:solidFill>
                <a:latin typeface="微软雅黑"/>
              </a:rPr>
              <a:t>HYBRID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96300" y="1276350"/>
            <a:ext cx="447675" cy="352425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000000"/>
                </a:solidFill>
                <a:latin typeface="微软雅黑"/>
              </a:rPr>
              <a:t>A*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34450" y="1295400"/>
            <a:ext cx="1114425" cy="333375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000000"/>
                </a:solidFill>
                <a:latin typeface="微软雅黑"/>
              </a:rPr>
              <a:t>EXPERT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20300" y="1266825"/>
            <a:ext cx="1000125" cy="409575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微软雅黑"/>
              </a:rPr>
              <a:t>（DQfD)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15475" y="1781175"/>
            <a:ext cx="1628775" cy="323850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000000"/>
                </a:solidFill>
                <a:latin typeface="微软雅黑"/>
              </a:rPr>
              <a:t>Precomputed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77650" y="1857375"/>
            <a:ext cx="1666875" cy="323850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000000"/>
                </a:solidFill>
                <a:latin typeface="微软雅黑"/>
              </a:rPr>
              <a:t>Expert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44550" y="1866900"/>
            <a:ext cx="95250" cy="104775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微软雅黑"/>
              </a:rPr>
              <a:t>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0300" y="2076450"/>
            <a:ext cx="609600" cy="323850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000000"/>
                </a:solidFill>
                <a:latin typeface="微软雅黑"/>
              </a:rPr>
              <a:t>Path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86950" y="2457450"/>
            <a:ext cx="876300" cy="304800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微软雅黑"/>
              </a:rPr>
              <a:t>Guided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4250" y="2705100"/>
            <a:ext cx="1628775" cy="400050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000000"/>
                </a:solidFill>
                <a:latin typeface="微软雅黑"/>
              </a:rPr>
              <a:t>Pathplanning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8825" y="2762250"/>
            <a:ext cx="1371600" cy="323850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000000"/>
                </a:solidFill>
                <a:latin typeface="微软雅黑"/>
              </a:rPr>
              <a:t>Exploration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20900" y="3390900"/>
            <a:ext cx="1009650" cy="333375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000000"/>
                </a:solidFill>
                <a:latin typeface="微软雅黑"/>
              </a:rPr>
              <a:t>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811500" y="3371850"/>
            <a:ext cx="1362075" cy="409575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000000"/>
                </a:solidFill>
                <a:latin typeface="微软雅黑"/>
              </a:rPr>
              <a:t>((I)DDQN)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86650" y="3743325"/>
            <a:ext cx="3200400" cy="381000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000000"/>
                </a:solidFill>
                <a:latin typeface="微软雅黑"/>
              </a:rPr>
              <a:t>ObservationProcessing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77275" y="4305300"/>
            <a:ext cx="914400" cy="304800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000000"/>
                </a:solidFill>
                <a:latin typeface="微软雅黑"/>
              </a:rPr>
              <a:t>Scalars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91200" y="4600575"/>
            <a:ext cx="1019175" cy="371475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000000"/>
                </a:solidFill>
                <a:latin typeface="微软雅黑"/>
              </a:rPr>
              <a:t>State 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62875" y="4619625"/>
            <a:ext cx="771525" cy="304800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000000"/>
                </a:solidFill>
                <a:latin typeface="微软雅黑"/>
              </a:rPr>
              <a:t>(Pose,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8675" y="4629150"/>
            <a:ext cx="666750" cy="285750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000000"/>
                </a:solidFill>
                <a:latin typeface="微软雅黑"/>
              </a:rPr>
              <a:t>Goal,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8275" y="4629150"/>
            <a:ext cx="533400" cy="295275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000000"/>
                </a:solidFill>
                <a:latin typeface="微软雅黑"/>
              </a:rPr>
              <a:t>v, δ,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86900" y="4619625"/>
            <a:ext cx="1019175" cy="304800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00000"/>
                </a:solidFill>
                <a:latin typeface="微软雅黑"/>
              </a:rPr>
              <a:t>, OD, etc.)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34725" y="4619625"/>
            <a:ext cx="409575" cy="371475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000000"/>
                </a:solidFill>
                <a:latin typeface="微软雅黑"/>
              </a:rPr>
              <a:t>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15800" y="4667250"/>
            <a:ext cx="942975" cy="361950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000000"/>
                </a:solidFill>
                <a:latin typeface="微软雅黑"/>
              </a:rPr>
              <a:t>Action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87375" y="4581525"/>
            <a:ext cx="1209675" cy="428625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000000"/>
                </a:solidFill>
                <a:latin typeface="微软雅黑"/>
              </a:rPr>
              <a:t>GreedyA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934825" y="5000625"/>
            <a:ext cx="1304925" cy="371475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000000"/>
                </a:solidFill>
                <a:latin typeface="微软雅黑"/>
              </a:rPr>
              <a:t>Selection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05750" y="5143500"/>
            <a:ext cx="1809750" cy="323850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000000"/>
                </a:solidFill>
                <a:latin typeface="微软雅黑"/>
              </a:rPr>
              <a:t>Downsampled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63100" y="5162550"/>
            <a:ext cx="800100" cy="304800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000000"/>
                </a:solidFill>
                <a:latin typeface="微软雅黑"/>
              </a:rPr>
              <a:t>Maps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192375" y="5229225"/>
            <a:ext cx="1323975" cy="333375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微软雅黑"/>
              </a:rPr>
              <a:t>Q-Network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468725" y="5229225"/>
            <a:ext cx="390525" cy="333375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000000"/>
                </a:solidFill>
                <a:latin typeface="微软雅黑"/>
              </a:rPr>
              <a:t>(θ)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10500" y="5438775"/>
            <a:ext cx="2647950" cy="352425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微软雅黑"/>
              </a:rPr>
              <a:t>(Occupancy, Cost-to-go)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820900" y="5562600"/>
            <a:ext cx="847725" cy="352425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000000"/>
                </a:solidFill>
                <a:latin typeface="微软雅黑"/>
              </a:rPr>
              <a:t>Target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592425" y="5562600"/>
            <a:ext cx="1104900" cy="333375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000000"/>
                </a:solidFill>
                <a:latin typeface="微软雅黑"/>
              </a:rPr>
              <a:t>Network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687800" y="5562600"/>
            <a:ext cx="542925" cy="361950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000000"/>
                </a:solidFill>
                <a:latin typeface="微软雅黑"/>
              </a:rPr>
              <a:t>(θ-)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9525" y="6200775"/>
            <a:ext cx="2181225" cy="323850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000000"/>
                </a:solidFill>
                <a:latin typeface="微软雅黑"/>
              </a:rPr>
              <a:t>SAFETYMASKS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554200" y="6057900"/>
            <a:ext cx="1171575" cy="438150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000000"/>
                </a:solidFill>
                <a:latin typeface="微软雅黑"/>
              </a:rPr>
              <a:t>Training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735300" y="6124575"/>
            <a:ext cx="238125" cy="285750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00000"/>
                </a:solidFill>
                <a:latin typeface="微软雅黑"/>
              </a:rPr>
              <a:t>&amp;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963900" y="6086475"/>
            <a:ext cx="1466850" cy="352425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000000"/>
                </a:solidFill>
                <a:latin typeface="微软雅黑"/>
              </a:rPr>
              <a:t>Stabilizers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86050" y="6562725"/>
            <a:ext cx="2676525" cy="295275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000000"/>
                </a:solidFill>
                <a:latin typeface="微软雅黑"/>
              </a:rPr>
              <a:t>Ackermann Kinematics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20050" y="6410325"/>
            <a:ext cx="1114425" cy="295275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000000"/>
                </a:solidFill>
                <a:latin typeface="微软雅黑"/>
              </a:rPr>
              <a:t>Discrete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63025" y="6400800"/>
            <a:ext cx="942975" cy="323850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000000"/>
                </a:solidFill>
                <a:latin typeface="微软雅黑"/>
              </a:rPr>
              <a:t>Action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277975" y="6505575"/>
            <a:ext cx="923925" cy="390525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微软雅黑"/>
              </a:rPr>
              <a:t>• Replay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173325" y="6505575"/>
            <a:ext cx="762000" cy="361950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000000"/>
                </a:solidFill>
                <a:latin typeface="微软雅黑"/>
              </a:rPr>
              <a:t>Buffer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925800" y="6496050"/>
            <a:ext cx="1343025" cy="361950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微软雅黑"/>
              </a:rPr>
              <a:t>(Prioritized)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33700" y="6829425"/>
            <a:ext cx="1390650" cy="400050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000000"/>
                </a:solidFill>
                <a:latin typeface="微软雅黑"/>
              </a:rPr>
              <a:t>＆Footprint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48150" y="6838950"/>
            <a:ext cx="857250" cy="381000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000000"/>
                </a:solidFill>
                <a:latin typeface="微软雅黑"/>
              </a:rPr>
              <a:t> (I, w, r)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01000" y="6800850"/>
            <a:ext cx="1381125" cy="333375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000000"/>
                </a:solidFill>
                <a:latin typeface="微软雅黑"/>
              </a:rPr>
              <a:t>(35 subsets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34500" y="6791325"/>
            <a:ext cx="876300" cy="352425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000000"/>
                </a:solidFill>
                <a:latin typeface="微软雅黑"/>
              </a:rPr>
              <a:t>of δ, a)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210925" y="6677025"/>
            <a:ext cx="1257300" cy="314325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微软雅黑"/>
              </a:rPr>
              <a:t>Admissible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458700" y="6705600"/>
            <a:ext cx="733425" cy="266700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微软雅黑"/>
              </a:rPr>
              <a:t>Action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211175" y="6705600"/>
            <a:ext cx="638175" cy="276225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微软雅黑"/>
              </a:rPr>
              <a:t>Mask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4754225" y="6848475"/>
            <a:ext cx="619125" cy="314325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000000"/>
                </a:solidFill>
                <a:latin typeface="微软雅黑"/>
              </a:rPr>
              <a:t>Loss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5544800" y="6838950"/>
            <a:ext cx="552450" cy="323850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000000"/>
                </a:solidFill>
                <a:latin typeface="微软雅黑"/>
              </a:rPr>
              <a:t>Soft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049625" y="6829425"/>
            <a:ext cx="1019175" cy="371475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000000"/>
                </a:solidFill>
                <a:latin typeface="微软雅黑"/>
              </a:rPr>
              <a:t> Updates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229975" y="6981825"/>
            <a:ext cx="866775" cy="257175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微软雅黑"/>
              </a:rPr>
              <a:t>(Collision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068175" y="6991350"/>
            <a:ext cx="1152525" cy="257175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微软雅黑"/>
              </a:rPr>
              <a:t>&amp; Cost-to-go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192125" y="6981825"/>
            <a:ext cx="647700" cy="266700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微软雅黑"/>
              </a:rPr>
              <a:t>check)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4392275" y="6858000"/>
            <a:ext cx="381000" cy="276225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000000"/>
                </a:solidFill>
                <a:latin typeface="微软雅黑"/>
              </a:rPr>
              <a:t>TD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5325725" y="6858000"/>
            <a:ext cx="247650" cy="285750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微软雅黑"/>
              </a:rPr>
              <a:t>＆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4363700" y="7191375"/>
            <a:ext cx="714375" cy="266700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微软雅黑"/>
              </a:rPr>
              <a:t>Demo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5068550" y="7181850"/>
            <a:ext cx="695325" cy="276225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000000"/>
                </a:solidFill>
                <a:latin typeface="微软雅黑"/>
              </a:rPr>
              <a:t>Prefill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5754350" y="7191375"/>
            <a:ext cx="238125" cy="266700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00000"/>
                </a:solidFill>
                <a:latin typeface="微软雅黑"/>
              </a:rPr>
              <a:t>&amp;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5925800" y="7162800"/>
            <a:ext cx="1885950" cy="352425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000000"/>
                </a:solidFill>
                <a:latin typeface="微软雅黑"/>
              </a:rPr>
              <a:t>Supervised Loss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800225" y="7543800"/>
            <a:ext cx="685800" cy="409575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000000"/>
                </a:solidFill>
                <a:latin typeface="微软雅黑"/>
              </a:rPr>
              <a:t>Map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457450" y="7553325"/>
            <a:ext cx="276225" cy="361950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000000"/>
                </a:solidFill>
                <a:latin typeface="微软雅黑"/>
              </a:rPr>
              <a:t>&amp;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714625" y="7543800"/>
            <a:ext cx="1390650" cy="409575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000000"/>
                </a:solidFill>
                <a:latin typeface="微软雅黑"/>
              </a:rPr>
              <a:t>Dynamics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4382750" y="7496175"/>
            <a:ext cx="1266825" cy="304800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微软雅黑"/>
              </a:rPr>
              <a:t>Curriculum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5621000" y="7458075"/>
            <a:ext cx="1495425" cy="390525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000000"/>
                </a:solidFill>
                <a:latin typeface="微软雅黑"/>
              </a:rPr>
              <a:t> (Forest-only)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382000" y="7781925"/>
            <a:ext cx="1219200" cy="295275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000000"/>
                </a:solidFill>
                <a:latin typeface="微软雅黑"/>
              </a:rPr>
              <a:t>REWARD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610725" y="7772400"/>
            <a:ext cx="1485900" cy="323850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000000"/>
                </a:solidFill>
                <a:latin typeface="微软雅黑"/>
              </a:rPr>
              <a:t>FUNCTION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077575" y="7753350"/>
            <a:ext cx="714375" cy="438150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000000"/>
                </a:solidFill>
                <a:latin typeface="微软雅黑"/>
              </a:rPr>
              <a:t>Rt+1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14375" y="8048625"/>
            <a:ext cx="676275" cy="276225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000000"/>
                </a:solidFill>
                <a:latin typeface="微软雅黑"/>
              </a:rPr>
              <a:t>0.1m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390650" y="8048625"/>
            <a:ext cx="1390650" cy="323850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000000"/>
                </a:solidFill>
                <a:latin typeface="微软雅黑"/>
              </a:rPr>
              <a:t>Occupancy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762250" y="8029575"/>
            <a:ext cx="552450" cy="333375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000000"/>
                </a:solidFill>
                <a:latin typeface="微软雅黑"/>
              </a:rPr>
              <a:t>Grid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286125" y="8001000"/>
            <a:ext cx="1876425" cy="390525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000000"/>
                </a:solidFill>
                <a:latin typeface="微软雅黑"/>
              </a:rPr>
              <a:t>(0=free, 1=occ)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71500" y="8362950"/>
            <a:ext cx="723900" cy="314325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000000"/>
                </a:solidFill>
                <a:latin typeface="微软雅黑"/>
              </a:rPr>
              <a:t>•EDT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257300" y="8382000"/>
            <a:ext cx="276225" cy="276225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000000"/>
                </a:solidFill>
                <a:latin typeface="微软雅黑"/>
              </a:rPr>
              <a:t>&amp;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457325" y="8324850"/>
            <a:ext cx="1066800" cy="419100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微软雅黑"/>
              </a:rPr>
              <a:t>OD(x，ψ)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476500" y="8343900"/>
            <a:ext cx="1285875" cy="361950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000000"/>
                </a:solidFill>
                <a:latin typeface="微软雅黑"/>
              </a:rPr>
              <a:t>Clearance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019800" y="8401050"/>
            <a:ext cx="704850" cy="361950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000000"/>
                </a:solidFill>
                <a:latin typeface="微软雅黑"/>
              </a:rPr>
              <a:t>State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553325" y="8353425"/>
            <a:ext cx="1104900" cy="333375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000000"/>
                </a:solidFill>
                <a:latin typeface="微软雅黑"/>
              </a:rPr>
              <a:t>Progress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686800" y="8343900"/>
            <a:ext cx="361950" cy="333375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微软雅黑"/>
              </a:rPr>
              <a:t>(+)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525000" y="8315325"/>
            <a:ext cx="2124075" cy="381000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000000"/>
                </a:solidFill>
                <a:latin typeface="微软雅黑"/>
              </a:rPr>
              <a:t>Safety/Clearance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620500" y="8324850"/>
            <a:ext cx="609600" cy="381000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000000"/>
                </a:solidFill>
                <a:latin typeface="微软雅黑"/>
              </a:rPr>
              <a:t>(OD)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2220575" y="8324850"/>
            <a:ext cx="581025" cy="381000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微软雅黑"/>
              </a:rPr>
              <a:t>(+/-)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3706475" y="8334375"/>
            <a:ext cx="1619250" cy="466725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000000"/>
                </a:solidFill>
                <a:latin typeface="微软雅黑"/>
              </a:rPr>
              <a:t>Reward Rt+1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76275" y="8686800"/>
            <a:ext cx="1009650" cy="381000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000000"/>
                </a:solidFill>
                <a:latin typeface="微软雅黑"/>
              </a:rPr>
              <a:t>Bicycle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581150" y="8696325"/>
            <a:ext cx="1409700" cy="361950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000000"/>
                </a:solidFill>
                <a:latin typeface="微软雅黑"/>
              </a:rPr>
              <a:t>Integration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914650" y="8677275"/>
            <a:ext cx="1514475" cy="400050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000000"/>
                </a:solidFill>
                <a:latin typeface="微软雅黑"/>
              </a:rPr>
              <a:t>(v,δ, x, y, ψ)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695950" y="8820150"/>
            <a:ext cx="1333500" cy="457200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000000"/>
                </a:solidFill>
                <a:latin typeface="微软雅黑"/>
              </a:rPr>
              <a:t>St → St+1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85800" y="9020175"/>
            <a:ext cx="1371600" cy="381000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000000"/>
                </a:solidFill>
                <a:latin typeface="微软雅黑"/>
              </a:rPr>
              <a:t>Cost-to-go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000250" y="9029700"/>
            <a:ext cx="685800" cy="352425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000000"/>
                </a:solidFill>
                <a:latin typeface="微软雅黑"/>
              </a:rPr>
              <a:t>Field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638425" y="9029700"/>
            <a:ext cx="1152525" cy="371475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000000"/>
                </a:solidFill>
                <a:latin typeface="微软雅黑"/>
              </a:rPr>
              <a:t>(Dijkstra)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762875" y="9048750"/>
            <a:ext cx="1552575" cy="323850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000000"/>
                </a:solidFill>
                <a:latin typeface="微软雅黑"/>
              </a:rPr>
              <a:t>Smoothness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363075" y="9077325"/>
            <a:ext cx="209550" cy="228600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000000"/>
                </a:solidFill>
                <a:latin typeface="微软雅黑"/>
              </a:rPr>
              <a:t>-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1001375" y="8905875"/>
            <a:ext cx="1066800" cy="295275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000000"/>
                </a:solidFill>
                <a:latin typeface="微软雅黑"/>
              </a:rPr>
              <a:t>Terminal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410825" y="9182100"/>
            <a:ext cx="2057400" cy="390525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000000"/>
                </a:solidFill>
                <a:latin typeface="微软雅黑"/>
              </a:rPr>
              <a:t>(Goal +, Collision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2411075" y="9248775"/>
            <a:ext cx="200025" cy="257175"/>
          </a:xfrm>
          <a:prstGeom prst="rect">
            <a:avLst/>
          </a:prstGeom>
          <a:noFill/>
        </p:spPr>
        <p:txBody>
          <a:bodyPr wrap="none" lIns="19050" rIns="19050" tIns="9525" bIns="9525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000000"/>
                </a:solidFill>
                <a:latin typeface="微软雅黑"/>
              </a:rPr>
              <a:t>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