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754880" cy="43891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3657600"/>
            <a:ext cx="3840480" cy="0"/>
          </a:xfrm>
          <a:prstGeom prst="line">
            <a:avLst/>
          </a:prstGeom>
          <a:ln w="1778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114800" y="35158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594360" y="457200"/>
            <a:ext cx="0" cy="3200400"/>
          </a:xfrm>
          <a:prstGeom prst="line">
            <a:avLst/>
          </a:prstGeom>
          <a:ln w="1778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" y="1143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7431" y="366217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2971800"/>
            <a:ext cx="0" cy="685800"/>
          </a:xfrm>
          <a:prstGeom prst="line">
            <a:avLst/>
          </a:prstGeom>
          <a:ln w="6350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94360" y="2971800"/>
            <a:ext cx="822960" cy="0"/>
          </a:xfrm>
          <a:prstGeom prst="line">
            <a:avLst/>
          </a:prstGeom>
          <a:ln w="6350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20" y="2971800"/>
            <a:ext cx="1188720" cy="0"/>
          </a:xfrm>
          <a:prstGeom prst="line">
            <a:avLst/>
          </a:prstGeom>
          <a:ln w="10160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968230" y="1566581"/>
            <a:ext cx="697910" cy="436102"/>
          </a:xfrm>
          <a:prstGeom prst="line">
            <a:avLst/>
          </a:prstGeom>
          <a:ln w="10160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20" y="2002683"/>
            <a:ext cx="1550910" cy="969117"/>
          </a:xfrm>
          <a:prstGeom prst="line">
            <a:avLst/>
          </a:prstGeom>
          <a:ln w="279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47724" y="2700390"/>
            <a:ext cx="339191" cy="542819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98634" y="1731274"/>
            <a:ext cx="339191" cy="54281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 rot="19680000">
            <a:off x="1073988" y="2650098"/>
            <a:ext cx="347472" cy="100584"/>
          </a:xfrm>
          <a:prstGeom prst="roundRect">
            <a:avLst>
              <a:gd name="adj" fmla="val 15000"/>
            </a:avLst>
          </a:prstGeom>
          <a:solidFill>
            <a:srgbClr val="2A2A2A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19680000">
            <a:off x="1413179" y="3192917"/>
            <a:ext cx="347472" cy="100584"/>
          </a:xfrm>
          <a:prstGeom prst="roundRect">
            <a:avLst>
              <a:gd name="adj" fmla="val 15000"/>
            </a:avLst>
          </a:prstGeom>
          <a:solidFill>
            <a:srgbClr val="2A2A2A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18000000">
            <a:off x="2624898" y="1680982"/>
            <a:ext cx="347472" cy="100584"/>
          </a:xfrm>
          <a:prstGeom prst="roundRect">
            <a:avLst>
              <a:gd name="adj" fmla="val 15000"/>
            </a:avLst>
          </a:prstGeom>
          <a:solidFill>
            <a:srgbClr val="2A2A2A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 rot="18000000">
            <a:off x="2964089" y="2223800"/>
            <a:ext cx="347472" cy="100584"/>
          </a:xfrm>
          <a:prstGeom prst="roundRect">
            <a:avLst>
              <a:gd name="adj" fmla="val 15000"/>
            </a:avLst>
          </a:prstGeom>
          <a:solidFill>
            <a:srgbClr val="2A2A2A"/>
          </a:solidFill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6172" y="2930652"/>
            <a:ext cx="82296" cy="82296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1208959" y="2638354"/>
            <a:ext cx="77530" cy="124073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759870" y="1669237"/>
            <a:ext cx="77529" cy="124073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247724" y="1731274"/>
            <a:ext cx="1550910" cy="969116"/>
          </a:xfrm>
          <a:prstGeom prst="line">
            <a:avLst/>
          </a:prstGeom>
          <a:ln w="11430">
            <a:solidFill>
              <a:srgbClr val="00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208959" y="2638354"/>
            <a:ext cx="169596" cy="271409"/>
          </a:xfrm>
          <a:prstGeom prst="line">
            <a:avLst/>
          </a:prstGeom>
          <a:ln w="63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759870" y="1669237"/>
            <a:ext cx="169595" cy="271410"/>
          </a:xfrm>
          <a:prstGeom prst="line">
            <a:avLst/>
          </a:prstGeom>
          <a:ln w="63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69068" y="1900721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1">
                <a:solidFill>
                  <a:srgbClr val="000000"/>
                </a:solidFill>
                <a:latin typeface="Arial"/>
              </a:rPr>
              <a:t>L</a:t>
            </a:r>
          </a:p>
        </p:txBody>
      </p:sp>
      <p:sp>
        <p:nvSpPr>
          <p:cNvPr id="25" name="Freeform 24"/>
          <p:cNvSpPr/>
          <p:nvPr/>
        </p:nvSpPr>
        <p:spPr>
          <a:xfrm>
            <a:off x="1711992" y="2787667"/>
            <a:ext cx="52800" cy="184133"/>
          </a:xfrm>
          <a:custGeom>
            <a:avLst/>
            <a:gdLst/>
            <a:ahLst/>
            <a:cxnLst/>
            <a:rect l="l" t="t" r="r" b="b"/>
            <a:pathLst>
              <a:path w="52800" h="184133">
                <a:moveTo>
                  <a:pt x="52800" y="184133"/>
                </a:moveTo>
                <a:lnTo>
                  <a:pt x="52739" y="177664"/>
                </a:lnTo>
                <a:lnTo>
                  <a:pt x="52559" y="171198"/>
                </a:lnTo>
                <a:lnTo>
                  <a:pt x="52258" y="164736"/>
                </a:lnTo>
                <a:lnTo>
                  <a:pt x="51837" y="158281"/>
                </a:lnTo>
                <a:lnTo>
                  <a:pt x="51295" y="151835"/>
                </a:lnTo>
                <a:lnTo>
                  <a:pt x="50634" y="145400"/>
                </a:lnTo>
                <a:lnTo>
                  <a:pt x="49853" y="138979"/>
                </a:lnTo>
                <a:lnTo>
                  <a:pt x="48953" y="132573"/>
                </a:lnTo>
                <a:lnTo>
                  <a:pt x="47934" y="126185"/>
                </a:lnTo>
                <a:lnTo>
                  <a:pt x="46795" y="119817"/>
                </a:lnTo>
                <a:lnTo>
                  <a:pt x="45539" y="113472"/>
                </a:lnTo>
                <a:lnTo>
                  <a:pt x="44165" y="107151"/>
                </a:lnTo>
                <a:lnTo>
                  <a:pt x="42673" y="100856"/>
                </a:lnTo>
                <a:lnTo>
                  <a:pt x="41064" y="94591"/>
                </a:lnTo>
                <a:lnTo>
                  <a:pt x="39339" y="88356"/>
                </a:lnTo>
                <a:lnTo>
                  <a:pt x="37498" y="82155"/>
                </a:lnTo>
                <a:lnTo>
                  <a:pt x="35542" y="75989"/>
                </a:lnTo>
                <a:lnTo>
                  <a:pt x="33472" y="69861"/>
                </a:lnTo>
                <a:lnTo>
                  <a:pt x="31288" y="63772"/>
                </a:lnTo>
                <a:lnTo>
                  <a:pt x="28991" y="57725"/>
                </a:lnTo>
                <a:lnTo>
                  <a:pt x="26581" y="51721"/>
                </a:lnTo>
                <a:lnTo>
                  <a:pt x="24061" y="45764"/>
                </a:lnTo>
                <a:lnTo>
                  <a:pt x="21430" y="39854"/>
                </a:lnTo>
                <a:lnTo>
                  <a:pt x="18689" y="33995"/>
                </a:lnTo>
                <a:lnTo>
                  <a:pt x="15840" y="28187"/>
                </a:lnTo>
                <a:lnTo>
                  <a:pt x="12883" y="22434"/>
                </a:lnTo>
                <a:lnTo>
                  <a:pt x="9820" y="16737"/>
                </a:lnTo>
                <a:lnTo>
                  <a:pt x="6651" y="11097"/>
                </a:lnTo>
                <a:lnTo>
                  <a:pt x="3377" y="5518"/>
                </a:lnTo>
                <a:lnTo>
                  <a:pt x="0" y="0"/>
                </a:lnTo>
                <a:close/>
              </a:path>
            </a:pathLst>
          </a:custGeom>
          <a:noFill/>
          <a:ln w="16510">
            <a:solidFill>
              <a:srgbClr val="007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9927" y="2665595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1">
                <a:solidFill>
                  <a:srgbClr val="0072C6"/>
                </a:solidFill>
                <a:latin typeface="Arial"/>
              </a:rPr>
              <a:t>θ</a:t>
            </a:r>
          </a:p>
        </p:txBody>
      </p:sp>
      <p:sp>
        <p:nvSpPr>
          <p:cNvPr id="27" name="Freeform 26"/>
          <p:cNvSpPr/>
          <p:nvPr/>
        </p:nvSpPr>
        <p:spPr>
          <a:xfrm>
            <a:off x="3160254" y="1670088"/>
            <a:ext cx="133667" cy="129081"/>
          </a:xfrm>
          <a:custGeom>
            <a:avLst/>
            <a:gdLst/>
            <a:ahLst/>
            <a:cxnLst/>
            <a:rect l="l" t="t" r="r" b="b"/>
            <a:pathLst>
              <a:path w="133667" h="129081">
                <a:moveTo>
                  <a:pt x="133667" y="129081"/>
                </a:moveTo>
                <a:lnTo>
                  <a:pt x="129627" y="122753"/>
                </a:lnTo>
                <a:lnTo>
                  <a:pt x="125464" y="116506"/>
                </a:lnTo>
                <a:lnTo>
                  <a:pt x="121179" y="110342"/>
                </a:lnTo>
                <a:lnTo>
                  <a:pt x="116775" y="104262"/>
                </a:lnTo>
                <a:lnTo>
                  <a:pt x="112253" y="98270"/>
                </a:lnTo>
                <a:lnTo>
                  <a:pt x="107615" y="92367"/>
                </a:lnTo>
                <a:lnTo>
                  <a:pt x="102862" y="86556"/>
                </a:lnTo>
                <a:lnTo>
                  <a:pt x="97996" y="80839"/>
                </a:lnTo>
                <a:lnTo>
                  <a:pt x="93020" y="75219"/>
                </a:lnTo>
                <a:lnTo>
                  <a:pt x="87935" y="69696"/>
                </a:lnTo>
                <a:lnTo>
                  <a:pt x="82743" y="64274"/>
                </a:lnTo>
                <a:lnTo>
                  <a:pt x="77445" y="58955"/>
                </a:lnTo>
                <a:lnTo>
                  <a:pt x="72045" y="53740"/>
                </a:lnTo>
                <a:lnTo>
                  <a:pt x="66544" y="48632"/>
                </a:lnTo>
                <a:lnTo>
                  <a:pt x="60944" y="43632"/>
                </a:lnTo>
                <a:lnTo>
                  <a:pt x="55248" y="38742"/>
                </a:lnTo>
                <a:lnTo>
                  <a:pt x="49457" y="33965"/>
                </a:lnTo>
                <a:lnTo>
                  <a:pt x="43573" y="29302"/>
                </a:lnTo>
                <a:lnTo>
                  <a:pt x="37600" y="24755"/>
                </a:lnTo>
                <a:lnTo>
                  <a:pt x="31539" y="20325"/>
                </a:lnTo>
                <a:lnTo>
                  <a:pt x="25393" y="16015"/>
                </a:lnTo>
                <a:lnTo>
                  <a:pt x="19163" y="11826"/>
                </a:lnTo>
                <a:lnTo>
                  <a:pt x="12853" y="7759"/>
                </a:lnTo>
                <a:lnTo>
                  <a:pt x="6464" y="3817"/>
                </a:lnTo>
                <a:lnTo>
                  <a:pt x="0" y="0"/>
                </a:lnTo>
                <a:close/>
              </a:path>
            </a:pathLst>
          </a:custGeom>
          <a:noFill/>
          <a:ln w="1651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17555" y="142169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1">
                <a:solidFill>
                  <a:srgbClr val="CC0000"/>
                </a:solidFill>
                <a:latin typeface="Arial"/>
              </a:rPr>
              <a:t>δ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771096" y="2632649"/>
            <a:ext cx="620364" cy="387647"/>
          </a:xfrm>
          <a:prstGeom prst="line">
            <a:avLst/>
          </a:prstGeom>
          <a:ln w="27940">
            <a:solidFill>
              <a:srgbClr val="0072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069944" y="260349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72C6"/>
                </a:solidFill>
                <a:latin typeface="Arial"/>
              </a:rPr>
              <a:t>v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968230" y="1448358"/>
            <a:ext cx="320040" cy="554325"/>
          </a:xfrm>
          <a:prstGeom prst="line">
            <a:avLst/>
          </a:prstGeom>
          <a:ln w="2032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936226" y="1970679"/>
            <a:ext cx="64008" cy="6400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06781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000000"/>
                </a:solidFill>
                <a:latin typeface="Arial"/>
              </a:rPr>
              <a:t>(x, 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