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858000" cy="4114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6F8FC"/>
            </a:gs>
            <a:gs pos="100000">
              <a:srgbClr val="E6EDF5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411480"/>
            <a:ext cx="1920240" cy="3291840"/>
          </a:xfrm>
          <a:prstGeom prst="roundRect">
            <a:avLst>
              <a:gd name="adj" fmla="val 4000"/>
            </a:avLst>
          </a:prstGeom>
          <a:solidFill>
            <a:srgbClr val="4472C4"/>
          </a:solidFill>
          <a:ln>
            <a:noFill/>
          </a:ln>
          <a:effectLst>
            <a:outerShdw blurRad="38100" dist="25400" dir="2700000" algn="tl" rotWithShape="0">
              <a:srgbClr val="666666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000" rIns="20000" tIns="5000" bIns="500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UGV Platform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41480" y="740664"/>
            <a:ext cx="1860240" cy="293265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hape_9_图片 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480" y="752664"/>
            <a:ext cx="1836240" cy="290865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017520" y="411480"/>
            <a:ext cx="2880360" cy="987552"/>
          </a:xfrm>
          <a:prstGeom prst="roundRect">
            <a:avLst>
              <a:gd name="adj" fmla="val 6000"/>
            </a:avLst>
          </a:prstGeom>
          <a:solidFill>
            <a:srgbClr val="4472C4"/>
          </a:solidFill>
          <a:ln>
            <a:noFill/>
          </a:ln>
          <a:effectLst>
            <a:outerShdw blurRad="38100" dist="25400" dir="2700000" algn="tl" rotWithShape="0">
              <a:srgbClr val="666666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000" rIns="20000" tIns="5000" bIns="5000"/>
          <a:lstStyle/>
          <a:p>
            <a:pPr algn="ctr"/>
            <a:r>
              <a:rPr sz="900" b="1">
                <a:solidFill>
                  <a:srgbClr val="FFFFFF"/>
                </a:solidFill>
                <a:latin typeface="Times New Roman"/>
              </a:rPr>
              <a:t>(a) Livox Mid-360 LiDAR</a:t>
            </a:r>
          </a:p>
          <a:p>
            <a:pPr algn="ctr"/>
            <a:r>
              <a:rPr sz="700" b="0">
                <a:solidFill>
                  <a:srgbClr val="D0DDF0"/>
                </a:solidFill>
                <a:latin typeface="Times New Roman"/>
              </a:rPr>
              <a:t>3D Point Cloud Sensing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42520" y="786749"/>
            <a:ext cx="2830360" cy="58728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hape_0_Picture 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9351" y="794749"/>
            <a:ext cx="1556698" cy="57128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017520" y="1563624"/>
            <a:ext cx="2880360" cy="987552"/>
          </a:xfrm>
          <a:prstGeom prst="roundRect">
            <a:avLst>
              <a:gd name="adj" fmla="val 6000"/>
            </a:avLst>
          </a:prstGeom>
          <a:solidFill>
            <a:srgbClr val="4472C4"/>
          </a:solidFill>
          <a:ln>
            <a:noFill/>
          </a:ln>
          <a:effectLst>
            <a:outerShdw blurRad="38100" dist="25400" dir="2700000" algn="tl" rotWithShape="0">
              <a:srgbClr val="666666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000" rIns="20000" tIns="5000" bIns="5000"/>
          <a:lstStyle/>
          <a:p>
            <a:pPr algn="ctr"/>
            <a:r>
              <a:rPr sz="900" b="1">
                <a:solidFill>
                  <a:srgbClr val="FFFFFF"/>
                </a:solidFill>
                <a:latin typeface="Times New Roman"/>
              </a:rPr>
              <a:t>(b) Jetson AGX Orin</a:t>
            </a:r>
          </a:p>
          <a:p>
            <a:pPr algn="ctr"/>
            <a:r>
              <a:rPr sz="700" b="0">
                <a:solidFill>
                  <a:srgbClr val="D0DDF0"/>
                </a:solidFill>
                <a:latin typeface="Times New Roman"/>
              </a:rPr>
              <a:t>Onboard AI Computing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42520" y="1938893"/>
            <a:ext cx="2830360" cy="58728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hape_2_Picture 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9351" y="1946893"/>
            <a:ext cx="1556698" cy="57128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017520" y="2715768"/>
            <a:ext cx="2880360" cy="987552"/>
          </a:xfrm>
          <a:prstGeom prst="roundRect">
            <a:avLst>
              <a:gd name="adj" fmla="val 6000"/>
            </a:avLst>
          </a:prstGeom>
          <a:solidFill>
            <a:srgbClr val="4472C4"/>
          </a:solidFill>
          <a:ln>
            <a:noFill/>
          </a:ln>
          <a:effectLst>
            <a:outerShdw blurRad="38100" dist="25400" dir="2700000" algn="tl" rotWithShape="0">
              <a:srgbClr val="666666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000" rIns="20000" tIns="5000" bIns="5000"/>
          <a:lstStyle/>
          <a:p>
            <a:pPr algn="ctr"/>
            <a:r>
              <a:rPr sz="900" b="1">
                <a:solidFill>
                  <a:srgbClr val="FFFFFF"/>
                </a:solidFill>
                <a:latin typeface="Times New Roman"/>
              </a:rPr>
              <a:t>(c) Ackermann Chassis</a:t>
            </a:r>
          </a:p>
          <a:p>
            <a:pPr algn="ctr"/>
            <a:r>
              <a:rPr sz="700" b="0">
                <a:solidFill>
                  <a:srgbClr val="D0DDF0"/>
                </a:solidFill>
                <a:latin typeface="Times New Roman"/>
              </a:rPr>
              <a:t>Bicycle Kinematic Model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42520" y="3091037"/>
            <a:ext cx="2830360" cy="58728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hape_4_Picture 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9351" y="3099037"/>
            <a:ext cx="1556698" cy="571283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2321720" y="950120"/>
            <a:ext cx="20000" cy="2000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 flipV="1">
            <a:off x="2341720" y="905256"/>
            <a:ext cx="675800" cy="54864"/>
          </a:xfrm>
          <a:prstGeom prst="line">
            <a:avLst/>
          </a:prstGeom>
          <a:ln w="19050">
            <a:solidFill>
              <a:srgbClr val="4472C4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2321720" y="2047400"/>
            <a:ext cx="20000" cy="2000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2341720" y="2057400"/>
            <a:ext cx="675800" cy="0"/>
          </a:xfrm>
          <a:prstGeom prst="line">
            <a:avLst/>
          </a:prstGeom>
          <a:ln w="19050">
            <a:solidFill>
              <a:srgbClr val="4472C4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321720" y="3144680"/>
            <a:ext cx="20000" cy="2000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2341720" y="3154680"/>
            <a:ext cx="675800" cy="54864"/>
          </a:xfrm>
          <a:prstGeom prst="line">
            <a:avLst/>
          </a:prstGeom>
          <a:ln w="19050">
            <a:solidFill>
              <a:srgbClr val="4472C4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