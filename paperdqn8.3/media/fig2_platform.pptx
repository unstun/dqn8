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4114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in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457200"/>
            <a:ext cx="2728762" cy="3200400"/>
          </a:xfrm>
          <a:prstGeom prst="rect">
            <a:avLst/>
          </a:prstGeom>
          <a:ln w="12700">
            <a:solidFill>
              <a:srgbClr val="4472C4"/>
            </a:solidFill>
            <a:prstDash val="dash"/>
          </a:ln>
        </p:spPr>
      </p:pic>
      <p:pic>
        <p:nvPicPr>
          <p:cNvPr id="3" name="Picture 2" descr="雷达mid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274320"/>
            <a:ext cx="822960" cy="619699"/>
          </a:xfrm>
          <a:prstGeom prst="rect">
            <a:avLst/>
          </a:prstGeom>
          <a:ln w="12700">
            <a:solidFill>
              <a:srgbClr val="4472C4"/>
            </a:solidFill>
            <a:prstDash val="dash"/>
          </a:ln>
        </p:spPr>
      </p:pic>
      <p:sp>
        <p:nvSpPr>
          <p:cNvPr id="4" name="TextBox 3"/>
          <p:cNvSpPr txBox="1"/>
          <p:nvPr/>
        </p:nvSpPr>
        <p:spPr>
          <a:xfrm>
            <a:off x="2926080" y="9397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latin typeface="Arial"/>
              </a:defRPr>
            </a:pPr>
            <a:r>
              <a:t>(a) Livox Mid-360 LiDAR</a:t>
            </a:r>
          </a:p>
        </p:txBody>
      </p:sp>
      <p:pic>
        <p:nvPicPr>
          <p:cNvPr id="5" name="Picture 4" descr="工控机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554480"/>
            <a:ext cx="822960" cy="619699"/>
          </a:xfrm>
          <a:prstGeom prst="rect">
            <a:avLst/>
          </a:prstGeom>
          <a:ln w="12700">
            <a:solidFill>
              <a:srgbClr val="4472C4"/>
            </a:solidFill>
            <a:prstDash val="dash"/>
          </a:ln>
        </p:spPr>
      </p:pic>
      <p:sp>
        <p:nvSpPr>
          <p:cNvPr id="6" name="TextBox 5"/>
          <p:cNvSpPr txBox="1"/>
          <p:nvPr/>
        </p:nvSpPr>
        <p:spPr>
          <a:xfrm>
            <a:off x="2926080" y="221989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latin typeface="Arial"/>
              </a:defRPr>
            </a:pPr>
            <a:r>
              <a:t>(b) Jetson AGX Orin</a:t>
            </a:r>
          </a:p>
        </p:txBody>
      </p:sp>
      <p:pic>
        <p:nvPicPr>
          <p:cNvPr id="7" name="Picture 6" descr="无人小车底盘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0" y="2834640"/>
            <a:ext cx="822960" cy="437523"/>
          </a:xfrm>
          <a:prstGeom prst="rect">
            <a:avLst/>
          </a:prstGeom>
          <a:ln w="12700">
            <a:solidFill>
              <a:srgbClr val="4472C4"/>
            </a:solidFill>
            <a:prstDash val="dash"/>
          </a:ln>
        </p:spPr>
      </p:pic>
      <p:sp>
        <p:nvSpPr>
          <p:cNvPr id="8" name="TextBox 7"/>
          <p:cNvSpPr txBox="1"/>
          <p:nvPr/>
        </p:nvSpPr>
        <p:spPr>
          <a:xfrm>
            <a:off x="2926080" y="3317883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latin typeface="Arial"/>
              </a:defRPr>
            </a:pPr>
            <a:r>
              <a:t>(c) Ackermann chassis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011680" y="822960"/>
            <a:ext cx="1188720" cy="73152"/>
          </a:xfrm>
          <a:prstGeom prst="rightArrow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1463040" y="2011680"/>
            <a:ext cx="1737360" cy="73152"/>
          </a:xfrm>
          <a:prstGeom prst="rightArrow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2011680" y="3108960"/>
            <a:ext cx="1188720" cy="73152"/>
          </a:xfrm>
          <a:prstGeom prst="rightArrow">
            <a:avLst/>
          </a:prstGeom>
          <a:solidFill>
            <a:srgbClr val="0072C6"/>
          </a:solidFill>
          <a:ln>
            <a:solidFill>
              <a:srgbClr val="007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